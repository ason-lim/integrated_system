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0"/>
            <a:ext cx="10698480" cy="1645920"/>
          </a:xfrm>
          <a:prstGeom prst="rect">
            <a:avLst/>
          </a:prstGeom>
          <a:noFill/>
        </p:spPr>
        <p:txBody>
          <a:bodyPr wrap="square">
            <a:spAutoFit/>
          </a:bodyPr>
          <a:lstStyle/>
          <a:p>
            <a:pPr>
              <a:defRPr sz="3600" b="1">
                <a:solidFill>
                  <a:srgbClr val="15181D"/>
                </a:solidFill>
              </a:defRPr>
            </a:pPr>
            <a:r>
              <a:t>IBK서비스 임직원 선물 공급 (사후 모의 검증용)</a:t>
            </a:r>
          </a:p>
        </p:txBody>
      </p:sp>
      <p:sp>
        <p:nvSpPr>
          <p:cNvPr id="3" name="TextBox 2"/>
          <p:cNvSpPr txBox="1"/>
          <p:nvPr/>
        </p:nvSpPr>
        <p:spPr>
          <a:xfrm>
            <a:off x="731520" y="3749039"/>
            <a:ext cx="10698480" cy="548640"/>
          </a:xfrm>
          <a:prstGeom prst="rect">
            <a:avLst/>
          </a:prstGeom>
          <a:noFill/>
        </p:spPr>
        <p:txBody>
          <a:bodyPr wrap="none">
            <a:spAutoFit/>
          </a:bodyPr>
          <a:lstStyle/>
          <a:p>
            <a:pPr>
              <a:defRPr sz="1800">
                <a:solidFill>
                  <a:srgbClr val="3B3F47"/>
                </a:solidFill>
              </a:defRPr>
            </a:pPr>
            <a:r>
              <a:t>임직원 선물 공급 제안서 — 제출본 초안</a:t>
            </a:r>
          </a:p>
        </p:txBody>
      </p:sp>
      <p:sp>
        <p:nvSpPr>
          <p:cNvPr id="4" name="TextBox 3"/>
          <p:cNvSpPr txBox="1"/>
          <p:nvPr/>
        </p:nvSpPr>
        <p:spPr>
          <a:xfrm>
            <a:off x="731520" y="4572000"/>
            <a:ext cx="10698480" cy="1371600"/>
          </a:xfrm>
          <a:prstGeom prst="rect">
            <a:avLst/>
          </a:prstGeom>
          <a:noFill/>
        </p:spPr>
        <p:txBody>
          <a:bodyPr wrap="square">
            <a:spAutoFit/>
          </a:bodyPr>
          <a:lstStyle/>
          <a:p>
            <a:pPr>
              <a:defRPr sz="1400">
                <a:solidFill>
                  <a:srgbClr val="6B6F78"/>
                </a:solidFill>
              </a:defRPr>
            </a:pPr>
            <a:r>
              <a:t>발주기관  IBK서비스</a:t>
            </a:r>
          </a:p>
          <a:p>
            <a:pPr>
              <a:defRPr sz="1400">
                <a:solidFill>
                  <a:srgbClr val="6B6F78"/>
                </a:solidFill>
              </a:defRPr>
            </a:pPr>
            <a:r>
              <a:t>공고번호  IBK서비스-2026008</a:t>
            </a:r>
          </a:p>
          <a:p>
            <a:pPr>
              <a:defRPr sz="1400">
                <a:solidFill>
                  <a:srgbClr val="6B6F78"/>
                </a:solidFill>
              </a:defRPr>
            </a:pPr>
            <a:r>
              <a:t>제안사    [확인 필요: 제안사명]</a:t>
            </a:r>
          </a:p>
          <a:p>
            <a:pPr>
              <a:defRPr sz="1400">
                <a:solidFill>
                  <a:srgbClr val="6B6F78"/>
                </a:solidFill>
              </a:defRPr>
            </a:pPr>
            <a:r>
              <a:t>작성일    2026-10-19</a:t>
            </a:r>
          </a:p>
        </p:txBody>
      </p:sp>
      <p:sp>
        <p:nvSpPr>
          <p:cNvPr id="5" name="TextBox 4"/>
          <p:cNvSpPr txBox="1"/>
          <p:nvPr/>
        </p:nvSpPr>
        <p:spPr>
          <a:xfrm>
            <a:off x="731520" y="6035040"/>
            <a:ext cx="10698480" cy="365760"/>
          </a:xfrm>
          <a:prstGeom prst="rect">
            <a:avLst/>
          </a:prstGeom>
          <a:noFill/>
        </p:spPr>
        <p:txBody>
          <a:bodyPr wrap="none">
            <a:spAutoFit/>
          </a:bodyPr>
          <a:lstStyle/>
          <a:p>
            <a:pPr>
              <a:defRPr sz="1200" i="1">
                <a:solidFill>
                  <a:srgbClr val="B47A00"/>
                </a:solidFill>
              </a:defRPr>
            </a:pPr>
            <a:r>
              <a:t>※ 제출 전 [확인 필요] 항목 25개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1. 제안 요약</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400"/>
              </a:spcAft>
              <a:defRPr sz="1400"/>
            </a:pPr>
            <a:r>
              <a:t>• IBK서비스 임직원 2,090명을 대상으로 식품 2종·건강기능식품 2종·생활용품 2종 중 1인 1개를 직접 선택하는 폐쇄몰형 선물 공급을 제안합니다.</a:t>
            </a:r>
          </a:p>
          <a:p>
            <a:pPr>
              <a:spcAft>
                <a:spcPts val="400"/>
              </a:spcAft>
              <a:defRPr sz="1400"/>
            </a:pPr>
            <a:r>
              <a:t>• 계약 후 5일 이내 폐쇄몰을 열고, 선택일로부터 5영업일 이내 개별 주소 배송, 교환은 접수 후 7영업일 이내 완료를 목표로 운영합니다.</a:t>
            </a:r>
          </a:p>
          <a:p>
            <a:pPr>
              <a:spcAft>
                <a:spcPts val="400"/>
              </a:spcAft>
              <a:defRPr sz="1400"/>
            </a:pPr>
            <a:r>
              <a:t>• 1인당 44,000원(VAT 포함) 단가로 제안하며, 실제 지급수량 기준으로 정산합니다.</a:t>
            </a:r>
          </a:p>
          <a:p>
            <a:pPr>
              <a:spcAft>
                <a:spcPts val="400"/>
              </a:spcAft>
              <a:defRPr sz="1400"/>
            </a:pPr>
            <a:r>
              <a:t>• 모든 상품은 온라인 기준 판매가 40,000원 이상 상품으로 구성하고, 동일 옵션의 온라인 판매가 증빙을 함께 제출합니다.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2. 사업 이해</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본 사업은 IBK서비스 임직원에게 선택권을 보장하는 선물 지급 사업으로, 짧은 구축 기한과 전국 개별 배송, 교환 대응 속도가 품질을 좌우합니다. 제안사는 상품 다양성보다 '약속한 기한 안에 정확한 상품이 도착하는 것'을 최우선 목표로 둡니다.</a:t>
            </a:r>
          </a:p>
          <a:p>
            <a:pPr>
              <a:defRPr sz="1200" b="1"/>
            </a:pPr>
            <a:r>
              <a:t>항목 | 내용</a:t>
            </a:r>
          </a:p>
          <a:p>
            <a:pPr>
              <a:spcAft>
                <a:spcPts val="200"/>
              </a:spcAft>
              <a:defRPr sz="1100"/>
            </a:pPr>
            <a:r>
              <a:t>사업명 | IBK서비스 임직원 선물 공급 (사후 모의 검증용)</a:t>
            </a:r>
          </a:p>
          <a:p>
            <a:pPr>
              <a:spcAft>
                <a:spcPts val="200"/>
              </a:spcAft>
              <a:defRPr sz="1100"/>
            </a:pPr>
            <a:r>
              <a:t>발주기관 | IBK서비스</a:t>
            </a:r>
          </a:p>
          <a:p>
            <a:pPr>
              <a:spcAft>
                <a:spcPts val="200"/>
              </a:spcAft>
              <a:defRPr sz="1100"/>
            </a:pPr>
            <a:r>
              <a:t>공고번호 | IBK서비스-2026008</a:t>
            </a:r>
          </a:p>
          <a:p>
            <a:pPr>
              <a:spcAft>
                <a:spcPts val="200"/>
              </a:spcAft>
              <a:defRPr sz="1100"/>
            </a:pPr>
            <a:r>
              <a:t>예정 인원 | 2,090명</a:t>
            </a:r>
          </a:p>
          <a:p>
            <a:pPr>
              <a:spcAft>
                <a:spcPts val="200"/>
              </a:spcAft>
              <a:defRPr sz="1100"/>
            </a:pPr>
            <a:r>
              <a:t>1인당 단가 | 44,000원 (VAT 포함)</a:t>
            </a:r>
          </a:p>
          <a:p>
            <a:pPr>
              <a:spcAft>
                <a:spcPts val="200"/>
              </a:spcAft>
              <a:defRPr sz="1100"/>
            </a:pPr>
            <a:r>
              <a:t>예정 총액 | 91,960,000원 (실제 지급수량 정산)</a:t>
            </a:r>
          </a:p>
          <a:p>
            <a:pPr>
              <a:spcAft>
                <a:spcPts val="200"/>
              </a:spcAft>
              <a:defRPr sz="1100"/>
            </a:pPr>
            <a:r>
              <a:t>상품 구성 | 식품 2종·건강기능식품 2종·생활용품 2종 (총 6종)</a:t>
            </a:r>
          </a:p>
          <a:p>
            <a:pPr>
              <a:spcAft>
                <a:spcPts val="200"/>
              </a:spcAft>
              <a:defRPr sz="1100"/>
            </a:pPr>
            <a:r>
              <a:t>상품 가치 조건 | 온라인 기준 판매가 40,000원 이상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3. 요구사항 대응표</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요구사항 | 공고 조건 | 제안 내용 | 상태</a:t>
            </a:r>
          </a:p>
          <a:p>
            <a:pPr>
              <a:spcAft>
                <a:spcPts val="200"/>
              </a:spcAft>
              <a:defRPr sz="1100"/>
            </a:pPr>
            <a:r>
              <a:t>폐쇄몰 구축·상품 등재 | 계약일로부터 5일 이내 | D+0~D+5 구축 일정(5장) · 임직원 인증·1인 1선택 | 대응</a:t>
            </a:r>
          </a:p>
          <a:p>
            <a:pPr>
              <a:spcAft>
                <a:spcPts val="200"/>
              </a:spcAft>
              <a:defRPr sz="1100"/>
            </a:pPr>
            <a:r>
              <a:t>상품 구성 | 식품 2종·건강기능식품 2종·생활용품 2종 | 카테고리별 후보 복수 확보 후 공급사 확약분만 등재(4장) | 후보 확인 중</a:t>
            </a:r>
          </a:p>
          <a:p>
            <a:pPr>
              <a:spcAft>
                <a:spcPts val="200"/>
              </a:spcAft>
              <a:defRPr sz="1100"/>
            </a:pPr>
            <a:r>
              <a:t>온라인가 하한 | 40,000원 이상 | 동일 옵션 온라인 판매 경로·가격 캡처 제출 | 증빙 준비 중</a:t>
            </a:r>
          </a:p>
          <a:p>
            <a:pPr>
              <a:spcAft>
                <a:spcPts val="200"/>
              </a:spcAft>
              <a:defRPr sz="1100"/>
            </a:pPr>
            <a:r>
              <a:t>배송 | 선택일부터 5영업일 이내 국내 지정 주소 | 공급사별 출고 마감·송장 회신 기준 계약 반영 | 공급사 확약 필요</a:t>
            </a:r>
          </a:p>
          <a:p>
            <a:pPr>
              <a:spcAft>
                <a:spcPts val="200"/>
              </a:spcAft>
              <a:defRPr sz="1100"/>
            </a:pPr>
            <a:r>
              <a:t>교환 | 접수일부터 7영업일 이내 | 교환 접수 → 회수·재발송 동시 진행, 비용 부담 기준 사전 합의 | 공급사 확약 필요</a:t>
            </a:r>
          </a:p>
          <a:p>
            <a:pPr>
              <a:spcAft>
                <a:spcPts val="200"/>
              </a:spcAft>
              <a:defRPr sz="1100"/>
            </a:pPr>
            <a:r>
              <a:t>정산 | 실제 지급수량 기준 정산 | 실제 지급 수량 확정 후 정산 자료 제출 | 대응</a:t>
            </a:r>
          </a:p>
          <a:p>
            <a:pPr>
              <a:spcAft>
                <a:spcPts val="800"/>
              </a:spcAft>
              <a:defRPr sz="1400"/>
            </a:pPr>
            <a:r>
              <a:t>※ '공급사 확약 필요' 항목은 견적·확약서 회신 후 '대응'으로 바꿔 제출합니다.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4. 상품 구성안</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카테고리별로 조건을 충족할 수 있는 후보를 복수로 확보한 뒤, 공급사 견적·배송 확약·온라인가 증빙이 갖춰진 상품만 최종 구성에 넣습니다.</a:t>
            </a:r>
          </a:p>
          <a:p>
            <a:pPr>
              <a:spcAft>
                <a:spcPts val="800"/>
              </a:spcAft>
              <a:defRPr sz="1400"/>
            </a:pPr>
            <a:r>
              <a:t>■ 식품 2종</a:t>
            </a:r>
          </a:p>
          <a:p>
            <a:pPr>
              <a:defRPr sz="1200" b="1"/>
            </a:pPr>
            <a:r>
              <a:t>상품 | 옵션·구성 | 온라인 판매가 | 상태</a:t>
            </a:r>
          </a:p>
          <a:p>
            <a:pPr>
              <a:spcAft>
                <a:spcPts val="200"/>
              </a:spcAft>
              <a:defRPr sz="1100"/>
            </a:pPr>
            <a:r>
              <a:t>이룸팜스 사과배 혼합 선물세트 1호 | 5kg 배6과+사과6과 | 49,900원 (관측 2026-10-12) | [확인 필요: 공급사 확약 후 확정]</a:t>
            </a:r>
          </a:p>
          <a:p>
            <a:pPr>
              <a:spcAft>
                <a:spcPts val="200"/>
              </a:spcAft>
              <a:defRPr sz="1100"/>
            </a:pPr>
            <a:r>
              <a:t>콩여울 기름 선물세트 | 165ml/260ml·2종 선택 | 41,900원 (관측 2026-10-12) | [확인 필요: 공급사 확약 후 확정]</a:t>
            </a:r>
          </a:p>
          <a:p>
            <a:pPr>
              <a:spcAft>
                <a:spcPts val="800"/>
              </a:spcAft>
              <a:defRPr sz="1400"/>
            </a:pPr>
            <a:r>
              <a:t>■ 건강기능식품 2종</a:t>
            </a:r>
          </a:p>
          <a:p>
            <a:pPr>
              <a:defRPr sz="1200" b="1"/>
            </a:pPr>
            <a:r>
              <a:t>상품 | 옵션·구성 | 온라인 판매가 | 상태</a:t>
            </a:r>
          </a:p>
          <a:p>
            <a:pPr>
              <a:spcAft>
                <a:spcPts val="200"/>
              </a:spcAft>
              <a:defRPr sz="1100"/>
            </a:pPr>
            <a:r>
              <a:t>비타스프링 기프트 세트 스마트 피비100 메타 프로바이오틱스 001 50 | [확인 필요: 옵션] | 128,240원 (관측 2026-10-19) | [확인 필요: 공급사 확약 후 확정]</a:t>
            </a:r>
          </a:p>
          <a:p>
            <a:pPr>
              <a:spcAft>
                <a:spcPts val="200"/>
              </a:spcAft>
              <a:defRPr sz="1100"/>
            </a:pPr>
            <a:r>
              <a:t>홍삼정 스탠다드 농축스틱 40p + 쇼핑백 | [확인 필요: 옵션] | 119,000원 (관측 2026-10-19) | [확인 필요: 공급사 확약 후 확정]</a:t>
            </a:r>
          </a:p>
          <a:p>
            <a:pPr>
              <a:spcAft>
                <a:spcPts val="200"/>
              </a:spcAft>
              <a:defRPr sz="1100"/>
            </a:pPr>
            <a:r>
              <a:t>애플트리김약사네 장건강365 프리/프로바이오틱스 2주분, 1박스, 비피더 | [확인 필요: 옵션] | 69,020원 (관측 2026-10-19) | [확인 필요: 공급사 확약 후 확정]</a:t>
            </a:r>
          </a:p>
          <a:p>
            <a:pPr>
              <a:spcAft>
                <a:spcPts val="200"/>
              </a:spcAft>
              <a:defRPr sz="1100"/>
            </a:pPr>
            <a:r>
              <a:t>[선물세트] 종근당건강 락토핏 생유산균 그린 식물성 60포 3통 | [확인 필요: 옵션] | 49,800원 (관측 2026-10-19) | [확인 필요: 공급사 확약 후 확정]</a:t>
            </a:r>
          </a:p>
          <a:p>
            <a:pPr>
              <a:spcAft>
                <a:spcPts val="800"/>
              </a:spcAft>
              <a:defRPr sz="1400"/>
            </a:pPr>
            <a:r>
              <a:t>■ 생활용품 2종</a:t>
            </a:r>
          </a:p>
          <a:p>
            <a:pPr>
              <a:defRPr sz="1200" b="1"/>
            </a:pPr>
            <a:r>
              <a:t>상품 | 옵션·구성 | 온라인 판매가 | 상태</a:t>
            </a:r>
          </a:p>
          <a:p>
            <a:pPr>
              <a:spcAft>
                <a:spcPts val="200"/>
              </a:spcAft>
              <a:defRPr sz="1100"/>
            </a:pPr>
            <a:r>
              <a:t>FASEN 호텔수건 먼지없는수건 128g 고급수건, 다크그레이, 10개 | [확인 필요: 옵션] | 79,900원 (관측 2026-10-19) | [확인 필요: 공급사 확약 후 확정]</a:t>
            </a:r>
          </a:p>
          <a:p>
            <a:pPr>
              <a:spcAft>
                <a:spcPts val="800"/>
              </a:spcAft>
              <a:defRPr sz="1400"/>
            </a:pPr>
            <a:r>
              <a:t>※ 온라인 판매가는 관측 시점 값이며 시장 최저가 검증 전입니다. 제출 전 동일 옵션 복수 판매경로 가격을 대조합니다.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5. 폐쇄몰 구축·운영</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구축 방식: [확인 필요: 폐쇄몰 플랫폼·구축 방식]</a:t>
            </a:r>
          </a:p>
          <a:p>
            <a:pPr>
              <a:defRPr sz="1200" b="1"/>
            </a:pPr>
            <a:r>
              <a:t>일정 | 작업 | 산출물</a:t>
            </a:r>
          </a:p>
          <a:p>
            <a:pPr>
              <a:spcAft>
                <a:spcPts val="200"/>
              </a:spcAft>
              <a:defRPr sz="1100"/>
            </a:pPr>
            <a:r>
              <a:t>D+0 | 계약·임직원 명단/배송 정책 수령, 상품 상세정보 확보 | 착수 회의록</a:t>
            </a:r>
          </a:p>
          <a:p>
            <a:pPr>
              <a:spcAft>
                <a:spcPts val="200"/>
              </a:spcAft>
              <a:defRPr sz="1100"/>
            </a:pPr>
            <a:r>
              <a:t>D+1 | 상품 등재, 임직원 인증(사번·휴대폰) 연동 | 등재 목록</a:t>
            </a:r>
          </a:p>
          <a:p>
            <a:pPr>
              <a:spcAft>
                <a:spcPts val="200"/>
              </a:spcAft>
              <a:defRPr sz="1100"/>
            </a:pPr>
            <a:r>
              <a:t>D+2 | 1인 1선택·배송지 입력·변경 마감 기능 점검 | 기능 점검표</a:t>
            </a:r>
          </a:p>
          <a:p>
            <a:pPr>
              <a:spcAft>
                <a:spcPts val="200"/>
              </a:spcAft>
              <a:defRPr sz="1100"/>
            </a:pPr>
            <a:r>
              <a:t>D+3 | 발주처 검수 | 검수 의견</a:t>
            </a:r>
          </a:p>
          <a:p>
            <a:pPr>
              <a:spcAft>
                <a:spcPts val="200"/>
              </a:spcAft>
              <a:defRPr sz="1100"/>
            </a:pPr>
            <a:r>
              <a:t>D+4 | 수정 반영, 안내 문자·공지 준비 | 수정 내역</a:t>
            </a:r>
          </a:p>
          <a:p>
            <a:pPr>
              <a:spcAft>
                <a:spcPts val="200"/>
              </a:spcAft>
              <a:defRPr sz="1100"/>
            </a:pPr>
            <a:r>
              <a:t>D+5 | 오픈 및 선택 현황 대시보드 공유 | 오픈 보고</a:t>
            </a:r>
          </a:p>
          <a:p>
            <a:pPr>
              <a:spcAft>
                <a:spcPts val="400"/>
              </a:spcAft>
              <a:defRPr sz="1400"/>
            </a:pPr>
            <a:r>
              <a:t>• 임직원 본인 인증 후 1인 1개 선택, 마감 전 변경 허용</a:t>
            </a:r>
          </a:p>
          <a:p>
            <a:pPr>
              <a:spcAft>
                <a:spcPts val="400"/>
              </a:spcAft>
              <a:defRPr sz="1400"/>
            </a:pPr>
            <a:r>
              <a:t>• 미선택자 독려 안내(기한·횟수는 발주처와 협의)</a:t>
            </a:r>
          </a:p>
          <a:p>
            <a:pPr>
              <a:spcAft>
                <a:spcPts val="400"/>
              </a:spcAft>
              <a:defRPr sz="1400"/>
            </a:pPr>
            <a:r>
              <a:t>• 발주처 담당자용 선택·배송 현황 실시간 조회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6. 배송·교환·CS</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단계 | 기준 | 관리 방법</a:t>
            </a:r>
          </a:p>
          <a:p>
            <a:pPr>
              <a:spcAft>
                <a:spcPts val="200"/>
              </a:spcAft>
              <a:defRPr sz="1100"/>
            </a:pPr>
            <a:r>
              <a:t>주문 전달 | 선택 마감 당일 | 공급사별 주문서 자동 분리·전달</a:t>
            </a:r>
          </a:p>
          <a:p>
            <a:pPr>
              <a:spcAft>
                <a:spcPts val="200"/>
              </a:spcAft>
              <a:defRPr sz="1100"/>
            </a:pPr>
            <a:r>
              <a:t>출고·배송 | 선택일부터 5영업일 이내 도착 | 공급사 출고 마감 시각 계약 명시, 송장 회신 일 1회 집계</a:t>
            </a:r>
          </a:p>
          <a:p>
            <a:pPr>
              <a:spcAft>
                <a:spcPts val="200"/>
              </a:spcAft>
              <a:defRPr sz="1100"/>
            </a:pPr>
            <a:r>
              <a:t>지연 관리 | 도착 기한 D-1 미출고 건 | 발주처 사전 보고 및 대체 출고</a:t>
            </a:r>
          </a:p>
          <a:p>
            <a:pPr>
              <a:spcAft>
                <a:spcPts val="200"/>
              </a:spcAft>
              <a:defRPr sz="1100"/>
            </a:pPr>
            <a:r>
              <a:t>교환 | 접수일부터 7영업일 이내 | 회수·재발송 병행, 비용 부담 기준 사전 합의</a:t>
            </a:r>
          </a:p>
          <a:p>
            <a:pPr>
              <a:spcAft>
                <a:spcPts val="200"/>
              </a:spcAft>
              <a:defRPr sz="1100"/>
            </a:pPr>
            <a:r>
              <a:t>CS | [확인 필요: CS 운영 체계] | 문의 유형별 응대 기록, 주간 보고</a:t>
            </a:r>
          </a:p>
          <a:p>
            <a:pPr>
              <a:spcAft>
                <a:spcPts val="800"/>
              </a:spcAft>
              <a:defRPr sz="1400"/>
            </a:pPr>
            <a:r>
              <a:t>물류: [확인 필요: 물류·배송 파트너]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7. 가격 제안</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구분 | 금액 | 비고</a:t>
            </a:r>
          </a:p>
          <a:p>
            <a:pPr>
              <a:spcAft>
                <a:spcPts val="200"/>
              </a:spcAft>
              <a:defRPr sz="1100"/>
            </a:pPr>
            <a:r>
              <a:t>1인당 단가 | 44,000원 | VAT 포함, 상품·포장·배송·폐쇄몰 운영 포함</a:t>
            </a:r>
          </a:p>
          <a:p>
            <a:pPr>
              <a:spcAft>
                <a:spcPts val="200"/>
              </a:spcAft>
              <a:defRPr sz="1100"/>
            </a:pPr>
            <a:r>
              <a:t>예정 총액 | 91,960,000원 | 2,090명 기준, 실제 지급수량 정산</a:t>
            </a:r>
          </a:p>
          <a:p>
            <a:pPr>
              <a:spcAft>
                <a:spcPts val="800"/>
              </a:spcAft>
              <a:defRPr sz="1400"/>
            </a:pPr>
            <a:r>
              <a:t>도서산간 추가 배송비와 교환 비용은 단가에 포함하며 별도 청구하지 않는 것을 원칙으로 합니다. [확인 필요: 공급사 견적 확인 후 확정]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8. 품질·리스크 관리</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리스크 | 대응</a:t>
            </a:r>
          </a:p>
          <a:p>
            <a:pPr>
              <a:spcAft>
                <a:spcPts val="200"/>
              </a:spcAft>
              <a:defRPr sz="1100"/>
            </a:pPr>
            <a:r>
              <a:t>품절·계절 공급 변동 | 동급 이상 대체 상품을 사전 지정하고 발주처 승인 후 교체</a:t>
            </a:r>
          </a:p>
          <a:p>
            <a:pPr>
              <a:spcAft>
                <a:spcPts val="200"/>
              </a:spcAft>
              <a:defRPr sz="1100"/>
            </a:pPr>
            <a:r>
              <a:t>가격 변동 | 견적 유효기간을 사업 기간 이상으로 확보, 만료 전 재확인</a:t>
            </a:r>
          </a:p>
          <a:p>
            <a:pPr>
              <a:spcAft>
                <a:spcPts val="200"/>
              </a:spcAft>
              <a:defRPr sz="1100"/>
            </a:pPr>
            <a:r>
              <a:t>신선식품 파손·품질 | 출고 전 샘플 검수, 파손 시 우선 재발송</a:t>
            </a:r>
          </a:p>
          <a:p>
            <a:pPr>
              <a:spcAft>
                <a:spcPts val="200"/>
              </a:spcAft>
              <a:defRPr sz="1100"/>
            </a:pPr>
            <a:r>
              <a:t>배송 지연 | 공급사별 출고 마감 관리, 지연 예상 건 사전 보고</a:t>
            </a:r>
          </a:p>
          <a:p>
            <a:pPr>
              <a:spcAft>
                <a:spcPts val="200"/>
              </a:spcAft>
              <a:defRPr sz="1100"/>
            </a:pPr>
            <a:r>
              <a:t>개인정보 | 배송 정보는 배송 목적으로만 사용, 사업 종료 후 파기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9. 제안사 소개</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[확인 필요: 회사 소개]</a:t>
            </a:r>
          </a:p>
          <a:p>
            <a:pPr>
              <a:defRPr sz="1200" b="1"/>
            </a:pPr>
            <a:r>
              <a:t>항목 | 내용</a:t>
            </a:r>
          </a:p>
          <a:p>
            <a:pPr>
              <a:spcAft>
                <a:spcPts val="200"/>
              </a:spcAft>
              <a:defRPr sz="1100"/>
            </a:pPr>
            <a:r>
              <a:t>회사명 | [확인 필요: 제안사명]</a:t>
            </a:r>
          </a:p>
          <a:p>
            <a:pPr>
              <a:spcAft>
                <a:spcPts val="200"/>
              </a:spcAft>
              <a:defRPr sz="1100"/>
            </a:pPr>
            <a:r>
              <a:t>대표자 | [확인 필요: 대표자]</a:t>
            </a:r>
          </a:p>
          <a:p>
            <a:pPr>
              <a:spcAft>
                <a:spcPts val="200"/>
              </a:spcAft>
              <a:defRPr sz="1100"/>
            </a:pPr>
            <a:r>
              <a:t>사업자등록번호 | [확인 필요: 사업자등록번호]</a:t>
            </a:r>
          </a:p>
          <a:p>
            <a:pPr>
              <a:spcAft>
                <a:spcPts val="200"/>
              </a:spcAft>
              <a:defRPr sz="1100"/>
            </a:pPr>
            <a:r>
              <a:t>주소 | [확인 필요: 주소]</a:t>
            </a:r>
          </a:p>
          <a:p>
            <a:pPr>
              <a:spcAft>
                <a:spcPts val="200"/>
              </a:spcAft>
              <a:defRPr sz="1100"/>
            </a:pPr>
            <a:r>
              <a:t>담당자 | [확인 필요: 담당자] / [확인 필요: 연락처] / [확인 필요: 이메</a:t>
            </a:r>
          </a:p>
          <a:p>
            <a:pPr>
              <a:spcAft>
                <a:spcPts val="400"/>
              </a:spcAft>
              <a:defRPr sz="1400"/>
            </a:pPr>
            <a:r>
              <a:t>• [확인 필요: 유사 사업 수행 실적 — 실제 실적만 기재]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