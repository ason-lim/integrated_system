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011680"/>
            <a:ext cx="10698480" cy="1645920"/>
          </a:xfrm>
          <a:prstGeom prst="rect">
            <a:avLst/>
          </a:prstGeom>
          <a:noFill/>
        </p:spPr>
        <p:txBody>
          <a:bodyPr wrap="square">
            <a:spAutoFit/>
          </a:bodyPr>
          <a:lstStyle/>
          <a:p>
            <a:pPr>
              <a:defRPr sz="3600" b="1">
                <a:solidFill>
                  <a:srgbClr val="15181D"/>
                </a:solidFill>
              </a:defRPr>
            </a:pPr>
            <a:r>
              <a:t>IBK서비스 임직원 선물 공급 (사후 모의 검증용)</a:t>
            </a:r>
          </a:p>
        </p:txBody>
      </p:sp>
      <p:sp>
        <p:nvSpPr>
          <p:cNvPr id="3" name="TextBox 2"/>
          <p:cNvSpPr txBox="1"/>
          <p:nvPr/>
        </p:nvSpPr>
        <p:spPr>
          <a:xfrm>
            <a:off x="731520" y="3749039"/>
            <a:ext cx="10698480" cy="548640"/>
          </a:xfrm>
          <a:prstGeom prst="rect">
            <a:avLst/>
          </a:prstGeom>
          <a:noFill/>
        </p:spPr>
        <p:txBody>
          <a:bodyPr wrap="none">
            <a:spAutoFit/>
          </a:bodyPr>
          <a:lstStyle/>
          <a:p>
            <a:pPr>
              <a:defRPr sz="1800">
                <a:solidFill>
                  <a:srgbClr val="3B3F47"/>
                </a:solidFill>
              </a:defRPr>
            </a:pPr>
            <a:r>
              <a:t>임직원 선물 공급 제안서 — 내부 검토본</a:t>
            </a:r>
          </a:p>
        </p:txBody>
      </p:sp>
      <p:sp>
        <p:nvSpPr>
          <p:cNvPr id="4" name="TextBox 3"/>
          <p:cNvSpPr txBox="1"/>
          <p:nvPr/>
        </p:nvSpPr>
        <p:spPr>
          <a:xfrm>
            <a:off x="731520" y="4572000"/>
            <a:ext cx="10698480" cy="1371600"/>
          </a:xfrm>
          <a:prstGeom prst="rect">
            <a:avLst/>
          </a:prstGeom>
          <a:noFill/>
        </p:spPr>
        <p:txBody>
          <a:bodyPr wrap="square">
            <a:spAutoFit/>
          </a:bodyPr>
          <a:lstStyle/>
          <a:p>
            <a:pPr>
              <a:defRPr sz="1400">
                <a:solidFill>
                  <a:srgbClr val="6B6F78"/>
                </a:solidFill>
              </a:defRPr>
            </a:pPr>
            <a:r>
              <a:t>발주기관  IBK서비스</a:t>
            </a:r>
          </a:p>
          <a:p>
            <a:pPr>
              <a:defRPr sz="1400">
                <a:solidFill>
                  <a:srgbClr val="6B6F78"/>
                </a:solidFill>
              </a:defRPr>
            </a:pPr>
            <a:r>
              <a:t>공고번호  IBK서비스-2026008</a:t>
            </a:r>
          </a:p>
          <a:p>
            <a:pPr>
              <a:defRPr sz="1400">
                <a:solidFill>
                  <a:srgbClr val="6B6F78"/>
                </a:solidFill>
              </a:defRPr>
            </a:pPr>
            <a:r>
              <a:t>제안사    [확인 필요: 제안사명]</a:t>
            </a:r>
          </a:p>
          <a:p>
            <a:pPr>
              <a:defRPr sz="1400">
                <a:solidFill>
                  <a:srgbClr val="6B6F78"/>
                </a:solidFill>
              </a:defRPr>
            </a:pPr>
            <a:r>
              <a:t>작성일    2026-10-19</a:t>
            </a:r>
          </a:p>
        </p:txBody>
      </p:sp>
      <p:sp>
        <p:nvSpPr>
          <p:cNvPr id="5" name="TextBox 4"/>
          <p:cNvSpPr txBox="1"/>
          <p:nvPr/>
        </p:nvSpPr>
        <p:spPr>
          <a:xfrm>
            <a:off x="731520" y="6035040"/>
            <a:ext cx="10698480" cy="365760"/>
          </a:xfrm>
          <a:prstGeom prst="rect">
            <a:avLst/>
          </a:prstGeom>
          <a:noFill/>
        </p:spPr>
        <p:txBody>
          <a:bodyPr wrap="none">
            <a:spAutoFit/>
          </a:bodyPr>
          <a:lstStyle/>
          <a:p>
            <a:pPr>
              <a:defRPr sz="1200" i="1">
                <a:solidFill>
                  <a:srgbClr val="B47A00"/>
                </a:solidFill>
              </a:defRPr>
            </a:pPr>
            <a:r>
              <a:t>※ 제출 전 [확인 필요] 항목 32개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1. 제안 요약</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400"/>
              </a:spcAft>
              <a:defRPr sz="1400"/>
            </a:pPr>
            <a:r>
              <a:t>• IBK서비스 임직원 2,090명을 대상으로 식품 2종·건강기능식품 2종·생활용품 2종 중 1인 1개를 직접 선택하는 폐쇄몰형 선물 공급을 제안합니다.</a:t>
            </a:r>
          </a:p>
          <a:p>
            <a:pPr>
              <a:spcAft>
                <a:spcPts val="400"/>
              </a:spcAft>
              <a:defRPr sz="1400"/>
            </a:pPr>
            <a:r>
              <a:t>• 계약 후 5일 이내 폐쇄몰을 열고, 선택일로부터 5영업일 이내 개별 주소 배송, 교환은 접수 후 7영업일 이내 완료를 목표로 운영합니다.</a:t>
            </a:r>
          </a:p>
          <a:p>
            <a:pPr>
              <a:spcAft>
                <a:spcPts val="400"/>
              </a:spcAft>
              <a:defRPr sz="1400"/>
            </a:pPr>
            <a:r>
              <a:t>• 1인당 44,000원(VAT 포함) 단가로 제안하며, 실제 지급수량 기준으로 정산합니다.</a:t>
            </a:r>
          </a:p>
          <a:p>
            <a:pPr>
              <a:spcAft>
                <a:spcPts val="400"/>
              </a:spcAft>
              <a:defRPr sz="1400"/>
            </a:pPr>
            <a:r>
              <a:t>• 모든 상품은 온라인 기준 판매가 40,000원 이상 상품으로 구성하고, 동일 옵션의 온라인 판매가 증빙을 함께 제출합니다.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2. 사업 이해</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본 사업은 IBK서비스 임직원에게 선택권을 보장하는 선물 지급 사업으로, 짧은 구축 기한과 전국 개별 배송, 교환 대응 속도가 품질을 좌우합니다. 제안사는 상품 다양성보다 '약속한 기한 안에 정확한 상품이 도착하는 것'을 최우선 목표로 둡니다.</a:t>
            </a:r>
          </a:p>
          <a:p>
            <a:pPr>
              <a:defRPr sz="1200" b="1"/>
            </a:pPr>
            <a:r>
              <a:t>항목 | 내용</a:t>
            </a:r>
          </a:p>
          <a:p>
            <a:pPr>
              <a:spcAft>
                <a:spcPts val="200"/>
              </a:spcAft>
              <a:defRPr sz="1100"/>
            </a:pPr>
            <a:r>
              <a:t>사업명 | IBK서비스 임직원 선물 공급 (사후 모의 검증용)</a:t>
            </a:r>
          </a:p>
          <a:p>
            <a:pPr>
              <a:spcAft>
                <a:spcPts val="200"/>
              </a:spcAft>
              <a:defRPr sz="1100"/>
            </a:pPr>
            <a:r>
              <a:t>발주기관 | IBK서비스</a:t>
            </a:r>
          </a:p>
          <a:p>
            <a:pPr>
              <a:spcAft>
                <a:spcPts val="200"/>
              </a:spcAft>
              <a:defRPr sz="1100"/>
            </a:pPr>
            <a:r>
              <a:t>공고번호 | IBK서비스-2026008</a:t>
            </a:r>
          </a:p>
          <a:p>
            <a:pPr>
              <a:spcAft>
                <a:spcPts val="200"/>
              </a:spcAft>
              <a:defRPr sz="1100"/>
            </a:pPr>
            <a:r>
              <a:t>예정 인원 | 2,090명</a:t>
            </a:r>
          </a:p>
          <a:p>
            <a:pPr>
              <a:spcAft>
                <a:spcPts val="200"/>
              </a:spcAft>
              <a:defRPr sz="1100"/>
            </a:pPr>
            <a:r>
              <a:t>1인당 단가 | 44,000원 (VAT 포함)</a:t>
            </a:r>
          </a:p>
          <a:p>
            <a:pPr>
              <a:spcAft>
                <a:spcPts val="200"/>
              </a:spcAft>
              <a:defRPr sz="1100"/>
            </a:pPr>
            <a:r>
              <a:t>예정 총액 | 91,960,000원 (실제 지급수량 정산)</a:t>
            </a:r>
          </a:p>
          <a:p>
            <a:pPr>
              <a:spcAft>
                <a:spcPts val="200"/>
              </a:spcAft>
              <a:defRPr sz="1100"/>
            </a:pPr>
            <a:r>
              <a:t>상품 구성 | 식품 2종·건강기능식품 2종·생활용품 2종 (총 6종)</a:t>
            </a:r>
          </a:p>
          <a:p>
            <a:pPr>
              <a:spcAft>
                <a:spcPts val="200"/>
              </a:spcAft>
              <a:defRPr sz="1100"/>
            </a:pPr>
            <a:r>
              <a:t>상품 가치 조건 | 온라인 기준 판매가 40,000원 이상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3. 요구사항 대응표</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요구사항 | 공고 조건 | 제안 내용 | 상태</a:t>
            </a:r>
          </a:p>
          <a:p>
            <a:pPr>
              <a:spcAft>
                <a:spcPts val="200"/>
              </a:spcAft>
              <a:defRPr sz="1100"/>
            </a:pPr>
            <a:r>
              <a:t>폐쇄몰 구축·상품 등재 | 계약일로부터 5일 이내 | D+0~D+5 구축 일정(5장) · 임직원 인증·1인 1선택 | 대응</a:t>
            </a:r>
          </a:p>
          <a:p>
            <a:pPr>
              <a:spcAft>
                <a:spcPts val="200"/>
              </a:spcAft>
              <a:defRPr sz="1100"/>
            </a:pPr>
            <a:r>
              <a:t>상품 구성 | 식품 2종·건강기능식품 2종·생활용품 2종 | 카테고리별 후보 복수 확보 후 공급사 확약분만 등재(4장) | 후보 확인 중</a:t>
            </a:r>
          </a:p>
          <a:p>
            <a:pPr>
              <a:spcAft>
                <a:spcPts val="200"/>
              </a:spcAft>
              <a:defRPr sz="1100"/>
            </a:pPr>
            <a:r>
              <a:t>온라인가 하한 | 40,000원 이상 | 동일 옵션 온라인 판매 경로·가격 캡처 제출 | 증빙 준비 중</a:t>
            </a:r>
          </a:p>
          <a:p>
            <a:pPr>
              <a:spcAft>
                <a:spcPts val="200"/>
              </a:spcAft>
              <a:defRPr sz="1100"/>
            </a:pPr>
            <a:r>
              <a:t>배송 | 선택일부터 5영업일 이내 국내 지정 주소 | 공급사별 출고 마감·송장 회신 기준 계약 반영 | 공급사 확약 필요</a:t>
            </a:r>
          </a:p>
          <a:p>
            <a:pPr>
              <a:spcAft>
                <a:spcPts val="200"/>
              </a:spcAft>
              <a:defRPr sz="1100"/>
            </a:pPr>
            <a:r>
              <a:t>교환 | 접수일부터 7영업일 이내 | 교환 접수 → 회수·재발송 동시 진행, 비용 부담 기준 사전 합의 | 공급사 확약 필요</a:t>
            </a:r>
          </a:p>
          <a:p>
            <a:pPr>
              <a:spcAft>
                <a:spcPts val="200"/>
              </a:spcAft>
              <a:defRPr sz="1100"/>
            </a:pPr>
            <a:r>
              <a:t>정산 | 실제 지급수량 기준 정산 | 실제 지급 수량 확정 후 정산 자료 제출 | 대응</a:t>
            </a:r>
          </a:p>
          <a:p>
            <a:pPr>
              <a:spcAft>
                <a:spcPts val="800"/>
              </a:spcAft>
              <a:defRPr sz="1400"/>
            </a:pPr>
            <a:r>
              <a:t>※ '공급사 확약 필요' 항목은 견적·확약서 회신 후 '대응'으로 바꿔 제출합니다.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4. 상품 구성안</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카테고리별로 조건을 충족할 수 있는 후보를 복수로 확보한 뒤, 공급사 견적·배송 확약·온라인가 증빙이 갖춰진 상품만 최종 구성에 넣습니다.</a:t>
            </a:r>
          </a:p>
          <a:p>
            <a:pPr>
              <a:spcAft>
                <a:spcPts val="800"/>
              </a:spcAft>
              <a:defRPr sz="1400"/>
            </a:pPr>
            <a:r>
              <a:t>■ 식품 2종</a:t>
            </a:r>
          </a:p>
          <a:p>
            <a:pPr>
              <a:defRPr sz="1200" b="1"/>
            </a:pPr>
            <a:r>
              <a:t>상품 | 옵션·구성 | 온라인 판매가 | 상태 | 공급 경로</a:t>
            </a:r>
          </a:p>
          <a:p>
            <a:pPr>
              <a:spcAft>
                <a:spcPts val="200"/>
              </a:spcAft>
              <a:defRPr sz="1100"/>
            </a:pPr>
            <a:r>
              <a:t>이룸팜스 사과배 혼합 선물세트 1호 | 5kg 배6과+사과6과 | 49,900원 (관측 2026-10-12) | [확인 필요: 온라인가 하한, 공급사 견적, 1인 예산 내 공급] | 나주몰</a:t>
            </a:r>
          </a:p>
          <a:p>
            <a:pPr>
              <a:spcAft>
                <a:spcPts val="200"/>
              </a:spcAft>
              <a:defRPr sz="1100"/>
            </a:pPr>
            <a:r>
              <a:t>한우 우족선물세트 건강53호 | 4.2kg 혼합 | 34,900원 (관측 2026-10-12) | [확인 필요: 온라인가 하한, 공급사 견적, 1인 예산 내 공급] | 케이푸드</a:t>
            </a:r>
          </a:p>
          <a:p>
            <a:pPr>
              <a:spcAft>
                <a:spcPts val="200"/>
              </a:spcAft>
              <a:defRPr sz="1100"/>
            </a:pPr>
            <a:r>
              <a:t>황새치 뱃살 중 | 5·10·15kg | 32,000원 (관측 2026-10-12) | [확인 필요: 온라인가 하한, 공급사 견적, 1인 예산 내 공급] | 순수산</a:t>
            </a:r>
          </a:p>
          <a:p>
            <a:pPr>
              <a:spcAft>
                <a:spcPts val="200"/>
              </a:spcAft>
              <a:defRPr sz="1100"/>
            </a:pPr>
            <a:r>
              <a:t>국내산 완도 활전복 소 | 1kg 15~17미 | [확인 필요: 온라인가] | [확인 필요: 온라인가 하한, 공급사 견적, 1인 예산 내 공급] | 산지이음</a:t>
            </a:r>
          </a:p>
          <a:p>
            <a:pPr>
              <a:spcAft>
                <a:spcPts val="800"/>
              </a:spcAft>
              <a:defRPr sz="1400"/>
            </a:pPr>
            <a:r>
              <a:t>■ 건강기능식품 2종</a:t>
            </a:r>
          </a:p>
          <a:p>
            <a:pPr>
              <a:defRPr sz="1200" b="1"/>
            </a:pPr>
            <a:r>
              <a:t>상품 | 옵션·구성 | 온라인 판매가 | 상태 | 공급 경로</a:t>
            </a:r>
          </a:p>
          <a:p>
            <a:pPr>
              <a:spcAft>
                <a:spcPts val="200"/>
              </a:spcAft>
              <a:defRPr sz="1100"/>
            </a:pPr>
            <a:r>
              <a:t>비타스프링 기프트 세트 스마트 피비100 메타 프로바이오틱스 001 50 | [확인 필요: 옵션] | 128,240원 (관측 2026-10-19) | [확인 필요: 온라인가 하한, 정확한 옵션·구성, 근거 최신성] | 쿠팡</a:t>
            </a:r>
          </a:p>
          <a:p>
            <a:pPr>
              <a:spcAft>
                <a:spcPts val="200"/>
              </a:spcAft>
              <a:defRPr sz="1100"/>
            </a:pPr>
            <a:r>
              <a:t>홍삼정 스탠다드 농축스틱 40p + 쇼핑백 | [확인 필요: 옵션] | 119,000원 (관측 2026-10-19) | [확인 필요: 온라인가 하한, 정확한 옵션·구성, 근거 최신성] | 쿠팡</a:t>
            </a:r>
          </a:p>
          <a:p>
            <a:pPr>
              <a:spcAft>
                <a:spcPts val="200"/>
              </a:spcAft>
              <a:defRPr sz="1100"/>
            </a:pPr>
            <a:r>
              <a:t>애플트리김약사네 장건강365 프리/프로바이오틱스 2주분, 1박스, 비피더 | [확인 필요: 옵션] | 69,020원 (관측 2026-10-19) | [확인 필요: 온라인가 하한, 정확한 옵션·구성, 근거 최신성] | 쿠팡</a:t>
            </a:r>
          </a:p>
          <a:p>
            <a:pPr>
              <a:spcAft>
                <a:spcPts val="200"/>
              </a:spcAft>
              <a:defRPr sz="1100"/>
            </a:pPr>
            <a:r>
              <a:t>[선물세트] 종근당건강 락토핏 생유산균 그린 식물성 60포 3통 | [확인 필요: 옵션] | 49,800원 (관측 2026-10-19) | [확인 필요: 온라인가 하한, 정확한 옵션·구성, 근거 최신성] | 쿠팡</a:t>
            </a:r>
          </a:p>
          <a:p>
            <a:pPr>
              <a:spcAft>
                <a:spcPts val="800"/>
              </a:spcAft>
              <a:defRPr sz="1400"/>
            </a:pPr>
            <a:r>
              <a:t>■ 생활용품 2종</a:t>
            </a:r>
          </a:p>
          <a:p>
            <a:pPr>
              <a:defRPr sz="1200" b="1"/>
            </a:pPr>
            <a:r>
              <a:t>상품 | 옵션·구성 | 온라인 판매가 | 상태 | 공급 경로</a:t>
            </a:r>
          </a:p>
          <a:p>
            <a:pPr>
              <a:spcAft>
                <a:spcPts val="200"/>
              </a:spcAft>
              <a:defRPr sz="1100"/>
            </a:pPr>
            <a:r>
              <a:t>FASEN 호텔수건 먼지없는수건 128g 고급수건, 다크그레이, 10개 | [확인 필요: 옵션] | 79,900원 (관측 2026-10-19) | [확인 필요: 온라인가 하한, 정확한 옵션·구성, 근거 최신성] | 쿠팡</a:t>
            </a:r>
          </a:p>
          <a:p>
            <a:pPr>
              <a:spcAft>
                <a:spcPts val="200"/>
              </a:spcAft>
              <a:defRPr sz="1100"/>
            </a:pPr>
            <a:r>
              <a:t>크로커다일 워너비 호텔수건 200g 40수 코마사 아이보리 2p + 스카 | [확인 필요: 옵션] | 39,900원 (관측 2026-10-19) | [확인 필요: 온라인가 하한, 정확한 옵션·구성, 근거 최신성] | 쿠팡</a:t>
            </a:r>
          </a:p>
          <a:p>
            <a:pPr>
              <a:spcAft>
                <a:spcPts val="200"/>
              </a:spcAft>
              <a:defRPr sz="1100"/>
            </a:pPr>
            <a:r>
              <a:t>송월타월 행운 응원 좋은일 클로버 자수타월 150g  + 손잡이 박스 선 | [확인 필요: 옵션] | 33,960원 (관측 2026-10-19) | [확인 필요: 온라인가 하한, 정확한 옵션·구성, 근거 최신성] | 쿠팡</a:t>
            </a:r>
          </a:p>
          <a:p>
            <a:pPr>
              <a:spcAft>
                <a:spcPts val="800"/>
              </a:spcAft>
              <a:defRPr sz="1400"/>
            </a:pPr>
            <a:r>
              <a:t>※ 온라인 판매가는 관측 시점 값이며 시장 최저가 검증 전입니다. 제출 전 동일 옵션 복수 판매경로 가격을 대조합니다.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5. 폐쇄몰 구축·운영</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구축 방식: [확인 필요: 폐쇄몰 플랫폼·구축 방식]</a:t>
            </a:r>
          </a:p>
          <a:p>
            <a:pPr>
              <a:defRPr sz="1200" b="1"/>
            </a:pPr>
            <a:r>
              <a:t>일정 | 작업 | 산출물</a:t>
            </a:r>
          </a:p>
          <a:p>
            <a:pPr>
              <a:spcAft>
                <a:spcPts val="200"/>
              </a:spcAft>
              <a:defRPr sz="1100"/>
            </a:pPr>
            <a:r>
              <a:t>D+0 | 계약·임직원 명단/배송 정책 수령, 상품 상세정보 확보 | 착수 회의록</a:t>
            </a:r>
          </a:p>
          <a:p>
            <a:pPr>
              <a:spcAft>
                <a:spcPts val="200"/>
              </a:spcAft>
              <a:defRPr sz="1100"/>
            </a:pPr>
            <a:r>
              <a:t>D+1 | 상품 등재, 임직원 인증(사번·휴대폰) 연동 | 등재 목록</a:t>
            </a:r>
          </a:p>
          <a:p>
            <a:pPr>
              <a:spcAft>
                <a:spcPts val="200"/>
              </a:spcAft>
              <a:defRPr sz="1100"/>
            </a:pPr>
            <a:r>
              <a:t>D+2 | 1인 1선택·배송지 입력·변경 마감 기능 점검 | 기능 점검표</a:t>
            </a:r>
          </a:p>
          <a:p>
            <a:pPr>
              <a:spcAft>
                <a:spcPts val="200"/>
              </a:spcAft>
              <a:defRPr sz="1100"/>
            </a:pPr>
            <a:r>
              <a:t>D+3 | 발주처 검수 | 검수 의견</a:t>
            </a:r>
          </a:p>
          <a:p>
            <a:pPr>
              <a:spcAft>
                <a:spcPts val="200"/>
              </a:spcAft>
              <a:defRPr sz="1100"/>
            </a:pPr>
            <a:r>
              <a:t>D+4 | 수정 반영, 안내 문자·공지 준비 | 수정 내역</a:t>
            </a:r>
          </a:p>
          <a:p>
            <a:pPr>
              <a:spcAft>
                <a:spcPts val="200"/>
              </a:spcAft>
              <a:defRPr sz="1100"/>
            </a:pPr>
            <a:r>
              <a:t>D+5 | 오픈 및 선택 현황 대시보드 공유 | 오픈 보고</a:t>
            </a:r>
          </a:p>
          <a:p>
            <a:pPr>
              <a:spcAft>
                <a:spcPts val="400"/>
              </a:spcAft>
              <a:defRPr sz="1400"/>
            </a:pPr>
            <a:r>
              <a:t>• 임직원 본인 인증 후 1인 1개 선택, 마감 전 변경 허용</a:t>
            </a:r>
          </a:p>
          <a:p>
            <a:pPr>
              <a:spcAft>
                <a:spcPts val="400"/>
              </a:spcAft>
              <a:defRPr sz="1400"/>
            </a:pPr>
            <a:r>
              <a:t>• 미선택자 독려 안내(기한·횟수는 발주처와 협의)</a:t>
            </a:r>
          </a:p>
          <a:p>
            <a:pPr>
              <a:spcAft>
                <a:spcPts val="400"/>
              </a:spcAft>
              <a:defRPr sz="1400"/>
            </a:pPr>
            <a:r>
              <a:t>• 발주처 담당자용 선택·배송 현황 실시간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6. 배송·교환·CS</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단계 | 기준 | 관리 방법</a:t>
            </a:r>
          </a:p>
          <a:p>
            <a:pPr>
              <a:spcAft>
                <a:spcPts val="200"/>
              </a:spcAft>
              <a:defRPr sz="1100"/>
            </a:pPr>
            <a:r>
              <a:t>주문 전달 | 선택 마감 당일 | 공급사별 주문서 자동 분리·전달</a:t>
            </a:r>
          </a:p>
          <a:p>
            <a:pPr>
              <a:spcAft>
                <a:spcPts val="200"/>
              </a:spcAft>
              <a:defRPr sz="1100"/>
            </a:pPr>
            <a:r>
              <a:t>출고·배송 | 선택일부터 5영업일 이내 도착 | 공급사 출고 마감 시각 계약 명시, 송장 회신 일 1회 집계</a:t>
            </a:r>
          </a:p>
          <a:p>
            <a:pPr>
              <a:spcAft>
                <a:spcPts val="200"/>
              </a:spcAft>
              <a:defRPr sz="1100"/>
            </a:pPr>
            <a:r>
              <a:t>지연 관리 | 도착 기한 D-1 미출고 건 | 발주처 사전 보고 및 대체 출고</a:t>
            </a:r>
          </a:p>
          <a:p>
            <a:pPr>
              <a:spcAft>
                <a:spcPts val="200"/>
              </a:spcAft>
              <a:defRPr sz="1100"/>
            </a:pPr>
            <a:r>
              <a:t>교환 | 접수일부터 7영업일 이내 | 회수·재발송 병행, 비용 부담 기준 사전 합의</a:t>
            </a:r>
          </a:p>
          <a:p>
            <a:pPr>
              <a:spcAft>
                <a:spcPts val="200"/>
              </a:spcAft>
              <a:defRPr sz="1100"/>
            </a:pPr>
            <a:r>
              <a:t>CS | [확인 필요: CS 운영 체계] | 문의 유형별 응대 기록, 주간 보고</a:t>
            </a:r>
          </a:p>
          <a:p>
            <a:pPr>
              <a:spcAft>
                <a:spcPts val="800"/>
              </a:spcAft>
              <a:defRPr sz="1400"/>
            </a:pPr>
            <a:r>
              <a:t>물류: [확인 필요: 물류·배송 파트너]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7. 가격 제안</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구분 | 금액 | 비고</a:t>
            </a:r>
          </a:p>
          <a:p>
            <a:pPr>
              <a:spcAft>
                <a:spcPts val="200"/>
              </a:spcAft>
              <a:defRPr sz="1100"/>
            </a:pPr>
            <a:r>
              <a:t>1인당 단가 | 44,000원 | VAT 포함, 상품·포장·배송·폐쇄몰 운영 포함</a:t>
            </a:r>
          </a:p>
          <a:p>
            <a:pPr>
              <a:spcAft>
                <a:spcPts val="200"/>
              </a:spcAft>
              <a:defRPr sz="1100"/>
            </a:pPr>
            <a:r>
              <a:t>예정 총액 | 91,960,000원 | 2,090명 기준, 실제 지급수량 정산</a:t>
            </a:r>
          </a:p>
          <a:p>
            <a:pPr>
              <a:spcAft>
                <a:spcPts val="800"/>
              </a:spcAft>
              <a:defRPr sz="1400"/>
            </a:pPr>
            <a:r>
              <a:t>도서산간 추가 배송비와 교환 비용은 단가에 포함하며 별도 청구하지 않는 것을 원칙으로 합니다. [확인 필요: 공급사 견적 확인 후 확정]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8. 품질·리스크 관리</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리스크 | 대응</a:t>
            </a:r>
          </a:p>
          <a:p>
            <a:pPr>
              <a:spcAft>
                <a:spcPts val="200"/>
              </a:spcAft>
              <a:defRPr sz="1100"/>
            </a:pPr>
            <a:r>
              <a:t>품절·계절 공급 변동 | 동급 이상 대체 상품을 사전 지정하고 발주처 승인 후 교체</a:t>
            </a:r>
          </a:p>
          <a:p>
            <a:pPr>
              <a:spcAft>
                <a:spcPts val="200"/>
              </a:spcAft>
              <a:defRPr sz="1100"/>
            </a:pPr>
            <a:r>
              <a:t>가격 변동 | 견적 유효기간을 사업 기간 이상으로 확보, 만료 전 재확인</a:t>
            </a:r>
          </a:p>
          <a:p>
            <a:pPr>
              <a:spcAft>
                <a:spcPts val="200"/>
              </a:spcAft>
              <a:defRPr sz="1100"/>
            </a:pPr>
            <a:r>
              <a:t>신선식품 파손·품질 | 출고 전 샘플 검수, 파손 시 우선 재발송</a:t>
            </a:r>
          </a:p>
          <a:p>
            <a:pPr>
              <a:spcAft>
                <a:spcPts val="200"/>
              </a:spcAft>
              <a:defRPr sz="1100"/>
            </a:pPr>
            <a:r>
              <a:t>배송 지연 | 공급사별 출고 마감 관리, 지연 예상 건 사전 보고</a:t>
            </a:r>
          </a:p>
          <a:p>
            <a:pPr>
              <a:spcAft>
                <a:spcPts val="200"/>
              </a:spcAft>
              <a:defRPr sz="1100"/>
            </a:pPr>
            <a:r>
              <a:t>개인정보 | 배송 정보는 배송 목적으로만 사용, 사업 종료 후 파기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9. 제안사 소개</a:t>
            </a:r>
          </a:p>
        </p:txBody>
      </p:sp>
      <p:sp>
        <p:nvSpPr>
          <p:cNvPr id="3" name="TextBox 2"/>
          <p:cNvSpPr txBox="1"/>
          <p:nvPr/>
        </p:nvSpPr>
        <p:spPr>
          <a:xfrm>
            <a:off x="548640" y="1097280"/>
            <a:ext cx="11064240" cy="5303520"/>
          </a:xfrm>
          <a:prstGeom prst="rect">
            <a:avLst/>
          </a:prstGeom>
          <a:noFill/>
        </p:spPr>
        <p:txBody>
          <a:bodyPr wrap="square">
            <a:spAutoFit/>
          </a:bodyPr>
          <a:lstStyle/>
          <a:p>
            <a:pPr>
              <a:spcAft>
                <a:spcPts val="800"/>
              </a:spcAft>
              <a:defRPr sz="1400"/>
            </a:pPr>
            <a:r>
              <a:t>[확인 필요: 회사 소개]</a:t>
            </a:r>
          </a:p>
          <a:p>
            <a:pPr>
              <a:defRPr sz="1200" b="1"/>
            </a:pPr>
            <a:r>
              <a:t>항목 | 내용</a:t>
            </a:r>
          </a:p>
          <a:p>
            <a:pPr>
              <a:spcAft>
                <a:spcPts val="200"/>
              </a:spcAft>
              <a:defRPr sz="1100"/>
            </a:pPr>
            <a:r>
              <a:t>회사명 | [확인 필요: 제안사명]</a:t>
            </a:r>
          </a:p>
          <a:p>
            <a:pPr>
              <a:spcAft>
                <a:spcPts val="200"/>
              </a:spcAft>
              <a:defRPr sz="1100"/>
            </a:pPr>
            <a:r>
              <a:t>대표자 | [확인 필요: 대표자]</a:t>
            </a:r>
          </a:p>
          <a:p>
            <a:pPr>
              <a:spcAft>
                <a:spcPts val="200"/>
              </a:spcAft>
              <a:defRPr sz="1100"/>
            </a:pPr>
            <a:r>
              <a:t>사업자등록번호 | [확인 필요: 사업자등록번호]</a:t>
            </a:r>
          </a:p>
          <a:p>
            <a:pPr>
              <a:spcAft>
                <a:spcPts val="200"/>
              </a:spcAft>
              <a:defRPr sz="1100"/>
            </a:pPr>
            <a:r>
              <a:t>주소 | [확인 필요: 주소]</a:t>
            </a:r>
          </a:p>
          <a:p>
            <a:pPr>
              <a:spcAft>
                <a:spcPts val="200"/>
              </a:spcAft>
              <a:defRPr sz="1100"/>
            </a:pPr>
            <a:r>
              <a:t>담당자 | [확인 필요: 담당자] / [확인 필요: 연락처] / [확인 필요: 이메</a:t>
            </a:r>
          </a:p>
          <a:p>
            <a:pPr>
              <a:spcAft>
                <a:spcPts val="400"/>
              </a:spcAft>
              <a:defRPr sz="1400"/>
            </a:pPr>
            <a:r>
              <a:t>• [확인 필요: 유사 사업 수행 실적 — 실제 실적만 기재]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A. 제출 전 확인 체크리스트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확인 항목 | 해당 후보</a:t>
            </a:r>
          </a:p>
          <a:p>
            <a:pPr>
              <a:spcAft>
                <a:spcPts val="200"/>
              </a:spcAft>
              <a:defRPr sz="1100"/>
            </a:pPr>
            <a:r>
              <a:t>온라인가 하한 | FASEN 호텔수건 먼지없는수건 128g 고급수건, 다크그레이, 10개,</a:t>
            </a:r>
          </a:p>
          <a:p>
            <a:pPr>
              <a:spcAft>
                <a:spcPts val="200"/>
              </a:spcAft>
              <a:defRPr sz="1100"/>
            </a:pPr>
            <a:r>
              <a:t>공급사 견적 | FASEN 호텔수건 먼지없는수건 128g 고급수건, 다크그레이, 10개,</a:t>
            </a:r>
          </a:p>
          <a:p>
            <a:pPr>
              <a:spcAft>
                <a:spcPts val="200"/>
              </a:spcAft>
              <a:defRPr sz="1100"/>
            </a:pPr>
            <a:r>
              <a:t>1인 예산 내 공급 | FASEN 호텔수건 먼지없는수건 128g 고급수건, 다크그레이, 10개,</a:t>
            </a:r>
          </a:p>
          <a:p>
            <a:pPr>
              <a:spcAft>
                <a:spcPts val="200"/>
              </a:spcAft>
              <a:defRPr sz="1100"/>
            </a:pPr>
            <a:r>
              <a:t>배송 기한 | FASEN 호텔수건 먼지없는수건 128g 고급수건, 다크그레이, 10개,</a:t>
            </a:r>
          </a:p>
          <a:p>
            <a:pPr>
              <a:spcAft>
                <a:spcPts val="200"/>
              </a:spcAft>
              <a:defRPr sz="1100"/>
            </a:pPr>
            <a:r>
              <a:t>교환 기한 | FASEN 호텔수건 먼지없는수건 128g 고급수건, 다크그레이, 10개,</a:t>
            </a:r>
          </a:p>
          <a:p>
            <a:pPr>
              <a:spcAft>
                <a:spcPts val="200"/>
              </a:spcAft>
              <a:defRPr sz="1100"/>
            </a:pPr>
            <a:r>
              <a:t>재고·물량 | FASEN 호텔수건 먼지없는수건 128g 고급수건, 다크그레이, 10개,</a:t>
            </a:r>
          </a:p>
          <a:p>
            <a:pPr>
              <a:spcAft>
                <a:spcPts val="200"/>
              </a:spcAft>
              <a:defRPr sz="1100"/>
            </a:pPr>
            <a:r>
              <a:t>정확한 옵션·구성 | FASEN 호텔수건 먼지없는수건 128g 고급수건, 다크그레이, 10개,</a:t>
            </a:r>
          </a:p>
          <a:p>
            <a:pPr>
              <a:spcAft>
                <a:spcPts val="200"/>
              </a:spcAft>
              <a:defRPr sz="1100"/>
            </a:pPr>
            <a:r>
              <a:t>근거 최신성 | FASEN 호텔수건 먼지없는수건 128g 고급수건, 다크그레이, 10개,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640080"/>
          </a:xfrm>
          <a:prstGeom prst="rect">
            <a:avLst/>
          </a:prstGeom>
          <a:noFill/>
        </p:spPr>
        <p:txBody>
          <a:bodyPr wrap="none">
            <a:spAutoFit/>
          </a:bodyPr>
          <a:lstStyle/>
          <a:p>
            <a:pPr>
              <a:defRPr sz="2400" b="1">
                <a:solidFill>
                  <a:srgbClr val="15181D"/>
                </a:solidFill>
              </a:defRPr>
            </a:pPr>
            <a:r>
              <a:t>부록 B. 비용 구조 (내부용)</a:t>
            </a:r>
          </a:p>
        </p:txBody>
      </p:sp>
      <p:sp>
        <p:nvSpPr>
          <p:cNvPr id="3" name="TextBox 2"/>
          <p:cNvSpPr txBox="1"/>
          <p:nvPr/>
        </p:nvSpPr>
        <p:spPr>
          <a:xfrm>
            <a:off x="548640" y="1097280"/>
            <a:ext cx="11064240" cy="5303520"/>
          </a:xfrm>
          <a:prstGeom prst="rect">
            <a:avLst/>
          </a:prstGeom>
          <a:noFill/>
        </p:spPr>
        <p:txBody>
          <a:bodyPr wrap="square">
            <a:spAutoFit/>
          </a:bodyPr>
          <a:lstStyle/>
          <a:p>
            <a:pPr>
              <a:defRPr sz="1200" b="1"/>
            </a:pPr>
            <a:r>
              <a:t>비용 항목(1인) | 금액 | 근거</a:t>
            </a:r>
          </a:p>
          <a:p>
            <a:pPr>
              <a:spcAft>
                <a:spcPts val="200"/>
              </a:spcAft>
              <a:defRPr sz="1100"/>
            </a:pPr>
            <a:r>
              <a:t>상품 매입가 (공급사 인도 기준) | 미확인 | 미확인</a:t>
            </a:r>
          </a:p>
          <a:p>
            <a:pPr>
              <a:spcAft>
                <a:spcPts val="200"/>
              </a:spcAft>
              <a:defRPr sz="1100"/>
            </a:pPr>
            <a:r>
              <a:t>추가 포장 | 미확인 | 미확인</a:t>
            </a:r>
          </a:p>
          <a:p>
            <a:pPr>
              <a:spcAft>
                <a:spcPts val="200"/>
              </a:spcAft>
              <a:defRPr sz="1100"/>
            </a:pPr>
            <a:r>
              <a:t>개별 배송 (도서산간 포함) | 미확인 | 미확인</a:t>
            </a:r>
          </a:p>
          <a:p>
            <a:pPr>
              <a:spcAft>
                <a:spcPts val="200"/>
              </a:spcAft>
              <a:defRPr sz="1100"/>
            </a:pPr>
            <a:r>
              <a:t>운영·CS·하자 대응 | 미확인 | 미확인</a:t>
            </a:r>
          </a:p>
          <a:p>
            <a:pPr>
              <a:spcAft>
                <a:spcPts val="200"/>
              </a:spcAft>
              <a:defRPr sz="1100"/>
            </a:pPr>
            <a:r>
              <a:t>폐쇄몰 구축비 배분 | 미확인 | 미확인</a:t>
            </a:r>
          </a:p>
          <a:p>
            <a:pPr>
              <a:spcAft>
                <a:spcPts val="200"/>
              </a:spcAft>
              <a:defRPr sz="1100"/>
            </a:pPr>
            <a:r>
              <a:t>기타 확인 비용 | 미확인 | 미확인</a:t>
            </a:r>
          </a:p>
          <a:p>
            <a:pPr>
              <a:spcAft>
                <a:spcPts val="800"/>
              </a:spcAft>
              <a:defRPr sz="1400"/>
            </a:pPr>
            <a:r>
              <a:t>※ 미확인 6개 항목이 있어 잔여액(마진)을 확정하지 않습니다. 미확인 ≠ 0원.</a:t>
            </a:r>
          </a:p>
          <a:p>
            <a:pPr>
              <a:defRPr sz="1200" b="1"/>
            </a:pPr>
            <a:r>
              <a:t>가정(공개가=매입가) | 가정 매입가 | 추가비용 전 차액 | 판단</a:t>
            </a:r>
          </a:p>
          <a:p>
            <a:pPr>
              <a:spcAft>
                <a:spcPts val="200"/>
              </a:spcAft>
              <a:defRPr sz="1100"/>
            </a:pPr>
            <a:r>
              <a:t>이룸팜스 사과배 혼합 선물세트 1호 | 49,900원 | -5,900원 | 추가 비용 전에도 예산 초과 — B2B 견적 없이는 실행 가능성 입증 불</a:t>
            </a:r>
          </a:p>
          <a:p>
            <a:pPr>
              <a:spcAft>
                <a:spcPts val="200"/>
              </a:spcAft>
              <a:defRPr sz="1100"/>
            </a:pPr>
            <a:r>
              <a:t>콩여울 기름 선물세트 | 41,900원 | 2,100원 | 차액은 확정 수익이 아님 — 포장·배송·운영비 확인 전</a:t>
            </a:r>
          </a:p>
          <a:p>
            <a:pPr>
              <a:spcAft>
                <a:spcPts val="200"/>
              </a:spcAft>
              <a:defRPr sz="1100"/>
            </a:pPr>
            <a:r>
              <a:t>비타스프링 기프트 세트 스마트 피비100 메타 프로바이오틱스 001 50 | 128,240원 | -84,240원 | 추가 비용 전에도 예산 초과 — B2B 견적 없이는 실행 가능성 입증 불</a:t>
            </a:r>
          </a:p>
          <a:p>
            <a:pPr>
              <a:spcAft>
                <a:spcPts val="200"/>
              </a:spcAft>
              <a:defRPr sz="1100"/>
            </a:pPr>
            <a:r>
              <a:t>홍삼정 스탠다드 농축스틱 40p + 쇼핑백 | 119,000원 | -75,000원 | 추가 비용 전에도 예산 초과 — B2B 견적 없이는 실행 가능성 입증 불</a:t>
            </a:r>
          </a:p>
          <a:p>
            <a:pPr>
              <a:spcAft>
                <a:spcPts val="400"/>
              </a:spcAft>
              <a:defRPr sz="1400"/>
            </a:pPr>
            <a:r>
              <a:t>• 온라인가 40,000원 이상은 '상품 가치' 조건이며 매입가 의무가 아니므로 4,000원을 이익으로 확정하지 않습니다.</a:t>
            </a:r>
          </a:p>
          <a:p>
            <a:pPr>
              <a:spcAft>
                <a:spcPts val="400"/>
              </a:spcAft>
              <a:defRPr sz="1400"/>
            </a:pPr>
            <a:r>
              <a:t>• 2,090명은 전체 6종 선택에 대한 예정 인원입니다. 상품별 주문량은 미확인으로 두며 2,090÷6 균등 수량을 적용하지 않습니다.</a:t>
            </a:r>
          </a:p>
          <a:p>
            <a:pPr>
              <a:spcAft>
                <a:spcPts val="400"/>
              </a:spcAft>
              <a:defRPr sz="1400"/>
            </a:pPr>
            <a:r>
              <a:t>• VAT 포함 기준 — 견적별 VAT 기준을 반드시 명시받고 세무 처리는 별도 확인합니다.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